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0" r:id="rId6"/>
    <p:sldId id="267" r:id="rId7"/>
    <p:sldId id="265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720153" y="762983"/>
            <a:ext cx="106070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F4F7FA"/>
                </a:solidFill>
                <a:latin typeface="Aptos"/>
              </a:defRPr>
            </a:pPr>
            <a:r>
              <a:rPr lang="en-US" sz="3600"/>
              <a:t>Project Title: </a:t>
            </a:r>
            <a:r>
              <a:rPr sz="3600" err="1"/>
              <a:t>C</a:t>
            </a:r>
            <a:r>
              <a:rPr lang="en-US" sz="3600" err="1"/>
              <a:t>odeComplex</a:t>
            </a:r>
            <a:endParaRPr sz="3600"/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5B2C5"/>
                </a:solidFill>
                <a:latin typeface="Aptos"/>
              </a:defRPr>
            </a:pPr>
            <a:r>
              <a:t>CODECOMPLEX  •  SPL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B2C5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DC51746-FDCD-4402-9CDF-4A72AF6BA763}"/>
              </a:ext>
            </a:extLst>
          </p:cNvPr>
          <p:cNvCxnSpPr/>
          <p:nvPr/>
        </p:nvCxnSpPr>
        <p:spPr>
          <a:xfrm>
            <a:off x="235974" y="1759974"/>
            <a:ext cx="118675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C995F86-B6F1-C0D7-45F3-4106DA43FC0E}"/>
              </a:ext>
            </a:extLst>
          </p:cNvPr>
          <p:cNvSpPr txBox="1"/>
          <p:nvPr/>
        </p:nvSpPr>
        <p:spPr>
          <a:xfrm>
            <a:off x="481781" y="3175819"/>
            <a:ext cx="1434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Submitted by</a:t>
            </a:r>
          </a:p>
          <a:p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3A8265-CEED-7594-186D-3D889D3D7503}"/>
              </a:ext>
            </a:extLst>
          </p:cNvPr>
          <p:cNvSpPr txBox="1"/>
          <p:nvPr/>
        </p:nvSpPr>
        <p:spPr>
          <a:xfrm>
            <a:off x="481781" y="3498984"/>
            <a:ext cx="34914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Adib Rahman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BSSE 1753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Institute of Information Technology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University of Dhaka</a:t>
            </a:r>
          </a:p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19834B-0167-3C43-0114-4AEBAE50CA18}"/>
              </a:ext>
            </a:extLst>
          </p:cNvPr>
          <p:cNvSpPr txBox="1"/>
          <p:nvPr/>
        </p:nvSpPr>
        <p:spPr>
          <a:xfrm>
            <a:off x="7471976" y="3175819"/>
            <a:ext cx="1493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Supervised by</a:t>
            </a:r>
          </a:p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2E5270-D35C-A417-6375-1A4128325B96}"/>
              </a:ext>
            </a:extLst>
          </p:cNvPr>
          <p:cNvSpPr txBox="1"/>
          <p:nvPr/>
        </p:nvSpPr>
        <p:spPr>
          <a:xfrm>
            <a:off x="7471976" y="3498984"/>
            <a:ext cx="34914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Dr. Kazi </a:t>
            </a:r>
            <a:r>
              <a:rPr lang="en-US" err="1">
                <a:solidFill>
                  <a:schemeClr val="bg2"/>
                </a:solidFill>
              </a:rPr>
              <a:t>Muheymin</a:t>
            </a:r>
            <a:r>
              <a:rPr lang="en-US">
                <a:solidFill>
                  <a:schemeClr val="bg2"/>
                </a:solidFill>
              </a:rPr>
              <a:t>-Us-Sakib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Professor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Institute of Information Technology</a:t>
            </a:r>
            <a:br>
              <a:rPr lang="en-US">
                <a:solidFill>
                  <a:schemeClr val="bg2"/>
                </a:solidFill>
              </a:rPr>
            </a:br>
            <a:r>
              <a:rPr lang="en-US">
                <a:solidFill>
                  <a:schemeClr val="bg2"/>
                </a:solidFill>
              </a:rPr>
              <a:t>University of Dhaka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3D2B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004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4F7FA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850392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What is </a:t>
            </a:r>
            <a:r>
              <a:rPr err="1"/>
              <a:t>CodeComplex</a:t>
            </a:r>
            <a: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22860"/>
          </a:xfrm>
          <a:prstGeom prst="rect">
            <a:avLst/>
          </a:prstGeom>
          <a:solidFill>
            <a:srgbClr val="172339"/>
          </a:solidFill>
          <a:ln>
            <a:solidFill>
              <a:srgbClr val="172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303520" cy="420624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4864" cy="4206240"/>
          </a:xfrm>
          <a:prstGeom prst="rect">
            <a:avLst/>
          </a:prstGeom>
          <a:solidFill>
            <a:srgbClr val="43D2B1"/>
          </a:solidFill>
          <a:ln>
            <a:solidFill>
              <a:srgbClr val="43D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39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4892040" cy="3428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A terminal-based C++ tool that reads source-code files, analyzes functions and code blocks, estimates time complexity, explains the detected patterns, and identifies potential optimization opportunities.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03520" cy="1874519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4864" cy="1874519"/>
          </a:xfrm>
          <a:prstGeom prst="rect">
            <a:avLst/>
          </a:prstGeom>
          <a:solidFill>
            <a:srgbClr val="599CFF"/>
          </a:solidFill>
          <a:ln>
            <a:solidFill>
              <a:srgbClr val="5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39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30552"/>
            <a:ext cx="48920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C++ source-code file</a:t>
            </a:r>
            <a:br>
              <a:rPr/>
            </a:br>
            <a:br>
              <a:rPr/>
            </a:br>
            <a:r>
              <a:t>Functions • loops • nesting • logarithmic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11880"/>
            <a:ext cx="5303520" cy="210312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3611880"/>
            <a:ext cx="54864" cy="2103120"/>
          </a:xfrm>
          <a:prstGeom prst="rect">
            <a:avLst/>
          </a:prstGeom>
          <a:solidFill>
            <a:srgbClr val="F6AD55"/>
          </a:solidFill>
          <a:ln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79476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33672"/>
            <a:ext cx="48920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Estimated complexity</a:t>
            </a:r>
            <a:br>
              <a:rPr/>
            </a:br>
            <a:r>
              <a:t>Pattern explanation</a:t>
            </a:r>
            <a:br>
              <a:rPr/>
            </a:br>
            <a:r>
              <a:t>Potential inefficiency</a:t>
            </a:r>
            <a:br>
              <a:rPr/>
            </a:br>
            <a:r>
              <a:t>Possible improved 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5B2C5"/>
                </a:solidFill>
                <a:latin typeface="Aptos"/>
              </a:defRPr>
            </a:pPr>
            <a:r>
              <a:t>CODECOMPLEX  •  SPL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B2C5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3D2B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004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4F7FA"/>
                </a:solidFill>
                <a:latin typeface="Aptos"/>
              </a:defRPr>
            </a:pPr>
            <a: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850392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Why is this needed?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22860"/>
          </a:xfrm>
          <a:prstGeom prst="rect">
            <a:avLst/>
          </a:prstGeom>
          <a:solidFill>
            <a:srgbClr val="172339"/>
          </a:solidFill>
          <a:ln>
            <a:solidFill>
              <a:srgbClr val="172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83280" cy="425196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4864" cy="4251960"/>
          </a:xfrm>
          <a:prstGeom prst="rect">
            <a:avLst/>
          </a:prstGeom>
          <a:solidFill>
            <a:srgbClr val="43D2B1"/>
          </a:solidFill>
          <a:ln>
            <a:solidFill>
              <a:srgbClr val="43D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91639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1  COMPLEX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2971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Large C++ programs can</a:t>
            </a:r>
            <a:r>
              <a:rPr lang="en-US"/>
              <a:t> contain complex </a:t>
            </a:r>
          </a:p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rPr lang="en-US"/>
              <a:t>System.</a:t>
            </a:r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83280" cy="425196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54864" cy="4251960"/>
          </a:xfrm>
          <a:prstGeom prst="rect">
            <a:avLst/>
          </a:prstGeom>
          <a:solidFill>
            <a:srgbClr val="599CFF"/>
          </a:solidFill>
          <a:ln>
            <a:solidFill>
              <a:srgbClr val="5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691639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2  MANUAL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30552"/>
            <a:ext cx="2971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Students and </a:t>
            </a:r>
            <a:r>
              <a:rPr lang="en-US"/>
              <a:t>beginners</a:t>
            </a:r>
            <a:r>
              <a:t> may need to inspect these structures manually.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383280" cy="425196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54864" cy="4251960"/>
          </a:xfrm>
          <a:prstGeom prst="rect">
            <a:avLst/>
          </a:prstGeom>
          <a:solidFill>
            <a:srgbClr val="F6AD55"/>
          </a:solidFill>
          <a:ln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39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3  THE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30552"/>
            <a:ext cx="2971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rPr err="1"/>
              <a:t>CodeComplex</a:t>
            </a:r>
            <a:r>
              <a:t> provides a focused analysis that explains the detected patterns</a:t>
            </a:r>
            <a:r>
              <a:rPr lang="en-US"/>
              <a:t>.</a:t>
            </a: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5B2C5"/>
                </a:solidFill>
                <a:latin typeface="Aptos"/>
              </a:defRPr>
            </a:pPr>
            <a:r>
              <a:t>CODECOMPLEX  •  SPL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B2C5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029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3D2B1"/>
                </a:solidFill>
                <a:latin typeface="Aptos"/>
              </a:defRPr>
            </a:pPr>
            <a:r>
              <a:t>0</a:t>
            </a:r>
            <a:r>
              <a:rPr lang="en-US"/>
              <a:t>4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320040"/>
            <a:ext cx="103327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4F7FA"/>
                </a:solidFill>
                <a:latin typeface="Aptos"/>
              </a:defRPr>
            </a:pPr>
            <a:r>
              <a:t>S</a:t>
            </a:r>
            <a:r>
              <a:rPr lang="en-US"/>
              <a:t>ystem Architecture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394902"/>
            <a:ext cx="10972800" cy="22860"/>
          </a:xfrm>
          <a:prstGeom prst="rect">
            <a:avLst/>
          </a:prstGeom>
          <a:solidFill>
            <a:srgbClr val="172339"/>
          </a:solidFill>
          <a:ln>
            <a:solidFill>
              <a:srgbClr val="172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606637"/>
            <a:ext cx="2057400" cy="114300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606637"/>
            <a:ext cx="2057400" cy="54864"/>
          </a:xfrm>
          <a:prstGeom prst="rect">
            <a:avLst/>
          </a:prstGeom>
          <a:solidFill>
            <a:srgbClr val="43D2B1"/>
          </a:solidFill>
          <a:ln>
            <a:solidFill>
              <a:srgbClr val="43D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44966"/>
            <a:ext cx="187451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4F7FA"/>
                </a:solidFill>
                <a:latin typeface="Aptos"/>
              </a:defRPr>
            </a:pPr>
            <a:r>
              <a:t>C++ SOURCE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0048" y="2182710"/>
            <a:ext cx="256031" cy="0"/>
          </a:xfrm>
          <a:prstGeom prst="line">
            <a:avLst/>
          </a:prstGeom>
          <a:ln w="19050">
            <a:solidFill>
              <a:srgbClr val="A5B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98648" y="1606637"/>
            <a:ext cx="2057400" cy="114300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98648" y="1606637"/>
            <a:ext cx="2057400" cy="54864"/>
          </a:xfrm>
          <a:prstGeom prst="rect">
            <a:avLst/>
          </a:prstGeom>
          <a:solidFill>
            <a:srgbClr val="599CFF"/>
          </a:solidFill>
          <a:ln>
            <a:solidFill>
              <a:srgbClr val="5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90088" y="1944966"/>
            <a:ext cx="187451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4F7FA"/>
                </a:solidFill>
                <a:latin typeface="Aptos"/>
              </a:defRPr>
            </a:pPr>
            <a:r>
              <a:t>TOKENIZE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74336" y="2182710"/>
            <a:ext cx="256032" cy="0"/>
          </a:xfrm>
          <a:prstGeom prst="line">
            <a:avLst/>
          </a:prstGeom>
          <a:ln w="19050">
            <a:solidFill>
              <a:srgbClr val="A5B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02936" y="1606637"/>
            <a:ext cx="2057400" cy="114300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02936" y="1606637"/>
            <a:ext cx="2057400" cy="54864"/>
          </a:xfrm>
          <a:prstGeom prst="rect">
            <a:avLst/>
          </a:prstGeom>
          <a:solidFill>
            <a:srgbClr val="F6AD55"/>
          </a:solidFill>
          <a:ln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94376" y="1944966"/>
            <a:ext cx="187451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4F7FA"/>
                </a:solidFill>
                <a:latin typeface="Aptos"/>
              </a:defRPr>
            </a:pPr>
            <a:r>
              <a:t>FUNCTION /</a:t>
            </a:r>
            <a:br>
              <a:rPr/>
            </a:br>
            <a:r>
              <a:t>BLOCK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78623" y="2182710"/>
            <a:ext cx="256033" cy="0"/>
          </a:xfrm>
          <a:prstGeom prst="line">
            <a:avLst/>
          </a:prstGeom>
          <a:ln w="19050">
            <a:solidFill>
              <a:srgbClr val="A5B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07223" y="1606637"/>
            <a:ext cx="2057400" cy="114300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07223" y="1606637"/>
            <a:ext cx="2057400" cy="54864"/>
          </a:xfrm>
          <a:prstGeom prst="rect">
            <a:avLst/>
          </a:prstGeom>
          <a:solidFill>
            <a:srgbClr val="43D2B1"/>
          </a:solidFill>
          <a:ln>
            <a:solidFill>
              <a:srgbClr val="43D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98663" y="1944966"/>
            <a:ext cx="187451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4F7FA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64280" y="3727933"/>
            <a:ext cx="4663440" cy="521434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744959" y="3714860"/>
            <a:ext cx="86056" cy="521434"/>
          </a:xfrm>
          <a:prstGeom prst="rect">
            <a:avLst/>
          </a:prstGeom>
          <a:solidFill>
            <a:srgbClr val="43D2B1"/>
          </a:solidFill>
          <a:ln>
            <a:solidFill>
              <a:srgbClr val="43D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31015" y="3829046"/>
            <a:ext cx="425195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rPr lang="en-US"/>
              <a:t>Complexity </a:t>
            </a:r>
            <a:r>
              <a:t>A</a:t>
            </a:r>
            <a:r>
              <a:rPr lang="en-US"/>
              <a:t>nalysis</a:t>
            </a:r>
            <a:r>
              <a:t> P</a:t>
            </a:r>
            <a:r>
              <a:rPr lang="en-US"/>
              <a:t>ath</a:t>
            </a:r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818959" y="5014516"/>
            <a:ext cx="4663440" cy="566926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787801" y="5014516"/>
            <a:ext cx="45719" cy="566927"/>
          </a:xfrm>
          <a:prstGeom prst="rect">
            <a:avLst/>
          </a:prstGeom>
          <a:solidFill>
            <a:srgbClr val="599CFF"/>
          </a:solidFill>
          <a:ln>
            <a:solidFill>
              <a:srgbClr val="5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27347" y="5079239"/>
            <a:ext cx="425195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R</a:t>
            </a:r>
            <a:r>
              <a:rPr lang="en-US"/>
              <a:t>ecommendation</a:t>
            </a:r>
            <a:r>
              <a:t> P</a:t>
            </a:r>
            <a:r>
              <a:rPr lang="en-US"/>
              <a:t>ath</a:t>
            </a: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5B2C5"/>
                </a:solidFill>
                <a:latin typeface="Aptos"/>
              </a:defRPr>
            </a:pPr>
            <a:r>
              <a:t>CODECOMPLEX  •  SPL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73952"/>
            <a:ext cx="548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B2C5"/>
                </a:solidFill>
                <a:latin typeface="Aptos"/>
              </a:defRPr>
            </a:pPr>
            <a:r>
              <a:rPr lang="en-US"/>
              <a:t>4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C7949E-94A7-D497-3B40-D2CC407480F9}"/>
              </a:ext>
            </a:extLst>
          </p:cNvPr>
          <p:cNvSpPr txBox="1"/>
          <p:nvPr/>
        </p:nvSpPr>
        <p:spPr>
          <a:xfrm>
            <a:off x="1142999" y="1010598"/>
            <a:ext cx="2249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How does it work?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3D2B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0040"/>
            <a:ext cx="103327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4F7FA"/>
                </a:solidFill>
                <a:latin typeface="Aptos"/>
              </a:defRPr>
            </a:pPr>
            <a:r>
              <a:rPr lang="en-US"/>
              <a:t>Complexity Analysis Flow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850392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Deterministic complexity estimation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22860"/>
          </a:xfrm>
          <a:prstGeom prst="rect">
            <a:avLst/>
          </a:prstGeom>
          <a:solidFill>
            <a:srgbClr val="172339"/>
          </a:solidFill>
          <a:ln>
            <a:solidFill>
              <a:srgbClr val="172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357343"/>
            <a:ext cx="2057400" cy="115996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57343"/>
            <a:ext cx="2057400" cy="60243"/>
          </a:xfrm>
          <a:prstGeom prst="rect">
            <a:avLst/>
          </a:prstGeom>
          <a:solidFill>
            <a:srgbClr val="43D2B1"/>
          </a:solidFill>
          <a:ln>
            <a:solidFill>
              <a:srgbClr val="43D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750535"/>
            <a:ext cx="1783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4F7FA"/>
                </a:solidFill>
                <a:latin typeface="Aptos"/>
              </a:defRPr>
            </a:pPr>
            <a:r>
              <a:t>CODE</a:t>
            </a:r>
            <a:br>
              <a:rPr/>
            </a:br>
            <a:r>
              <a:t>STRUCTURE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2578608" y="2134583"/>
            <a:ext cx="283464" cy="0"/>
          </a:xfrm>
          <a:prstGeom prst="line">
            <a:avLst/>
          </a:prstGeom>
          <a:ln w="19050">
            <a:solidFill>
              <a:srgbClr val="A5B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16352" y="1357343"/>
            <a:ext cx="2057400" cy="115996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16352" y="1357343"/>
            <a:ext cx="2057400" cy="60243"/>
          </a:xfrm>
          <a:prstGeom prst="rect">
            <a:avLst/>
          </a:prstGeom>
          <a:solidFill>
            <a:srgbClr val="599CFF"/>
          </a:solidFill>
          <a:ln>
            <a:solidFill>
              <a:srgbClr val="5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53512" y="1750535"/>
            <a:ext cx="1783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4F7FA"/>
                </a:solidFill>
                <a:latin typeface="Aptos"/>
              </a:defRPr>
            </a:pPr>
            <a:r>
              <a:t>FEATURE</a:t>
            </a:r>
            <a:br>
              <a:rPr/>
            </a:br>
            <a:r>
              <a:t>EXTRACTION</a:t>
            </a:r>
          </a:p>
        </p:txBody>
      </p:sp>
      <p:cxnSp>
        <p:nvCxnSpPr>
          <p:cNvPr id="13" name="Connector 12"/>
          <p:cNvCxnSpPr>
            <a:cxnSpLocks/>
          </p:cNvCxnSpPr>
          <p:nvPr/>
        </p:nvCxnSpPr>
        <p:spPr>
          <a:xfrm>
            <a:off x="4892040" y="2134583"/>
            <a:ext cx="283464" cy="0"/>
          </a:xfrm>
          <a:prstGeom prst="line">
            <a:avLst/>
          </a:prstGeom>
          <a:ln w="19050">
            <a:solidFill>
              <a:srgbClr val="A5B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9783" y="1357343"/>
            <a:ext cx="2057400" cy="1159959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9783" y="1357343"/>
            <a:ext cx="2057400" cy="60243"/>
          </a:xfrm>
          <a:prstGeom prst="rect">
            <a:avLst/>
          </a:prstGeom>
          <a:solidFill>
            <a:srgbClr val="F6AD55"/>
          </a:solidFill>
          <a:ln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66944" y="1750535"/>
            <a:ext cx="1783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4F7FA"/>
                </a:solidFill>
                <a:latin typeface="Aptos"/>
              </a:defRPr>
            </a:pPr>
            <a:r>
              <a:t>COMPLEXITY</a:t>
            </a:r>
            <a:br>
              <a:rPr/>
            </a:br>
            <a:r>
              <a:t>RULE ANALYSIS</a:t>
            </a:r>
          </a:p>
        </p:txBody>
      </p:sp>
      <p:cxnSp>
        <p:nvCxnSpPr>
          <p:cNvPr id="17" name="Connector 16"/>
          <p:cNvCxnSpPr>
            <a:cxnSpLocks/>
          </p:cNvCxnSpPr>
          <p:nvPr/>
        </p:nvCxnSpPr>
        <p:spPr>
          <a:xfrm>
            <a:off x="7205471" y="2134583"/>
            <a:ext cx="283465" cy="0"/>
          </a:xfrm>
          <a:prstGeom prst="line">
            <a:avLst/>
          </a:prstGeom>
          <a:ln w="19050">
            <a:solidFill>
              <a:srgbClr val="A5B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43215" y="1357343"/>
            <a:ext cx="2057400" cy="115996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43215" y="1357343"/>
            <a:ext cx="2057400" cy="60243"/>
          </a:xfrm>
          <a:prstGeom prst="rect">
            <a:avLst/>
          </a:prstGeom>
          <a:solidFill>
            <a:srgbClr val="43D2B1"/>
          </a:solidFill>
          <a:ln>
            <a:solidFill>
              <a:srgbClr val="43D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0375" y="1750535"/>
            <a:ext cx="1783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4F7FA"/>
                </a:solidFill>
                <a:latin typeface="Aptos"/>
              </a:defRPr>
            </a:pPr>
            <a:r>
              <a:t>FINAL</a:t>
            </a:r>
            <a:br>
              <a:rPr/>
            </a:br>
            <a:r>
              <a:t>CALCULATION</a:t>
            </a:r>
          </a:p>
        </p:txBody>
      </p:sp>
      <p:cxnSp>
        <p:nvCxnSpPr>
          <p:cNvPr id="21" name="Connector 20"/>
          <p:cNvCxnSpPr>
            <a:cxnSpLocks/>
          </p:cNvCxnSpPr>
          <p:nvPr/>
        </p:nvCxnSpPr>
        <p:spPr>
          <a:xfrm>
            <a:off x="9518903" y="2134583"/>
            <a:ext cx="283464" cy="0"/>
          </a:xfrm>
          <a:prstGeom prst="line">
            <a:avLst/>
          </a:prstGeom>
          <a:ln w="19050">
            <a:solidFill>
              <a:srgbClr val="A5B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56647" y="1357343"/>
            <a:ext cx="2057400" cy="115996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56647" y="1357343"/>
            <a:ext cx="2057400" cy="60243"/>
          </a:xfrm>
          <a:prstGeom prst="rect">
            <a:avLst/>
          </a:prstGeom>
          <a:solidFill>
            <a:srgbClr val="599CFF"/>
          </a:solidFill>
          <a:ln>
            <a:solidFill>
              <a:srgbClr val="5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93807" y="1750535"/>
            <a:ext cx="1783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4F7FA"/>
                </a:solidFill>
                <a:latin typeface="Aptos"/>
              </a:defRPr>
            </a:pPr>
            <a:r>
              <a:t>COMPLEXITY</a:t>
            </a:r>
            <a:br>
              <a:rPr/>
            </a:br>
            <a:r>
              <a:t>EXPLANATION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5B2C5"/>
                </a:solidFill>
                <a:latin typeface="Aptos"/>
              </a:defRPr>
            </a:pPr>
            <a:r>
              <a:t>CODECOMPLEX  •  SPL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B2C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Rounded Rectangle 5">
            <a:extLst>
              <a:ext uri="{FF2B5EF4-FFF2-40B4-BE49-F238E27FC236}">
                <a16:creationId xmlns:a16="http://schemas.microsoft.com/office/drawing/2014/main" id="{B0E86156-593C-0D9B-8F14-B511BA12782A}"/>
              </a:ext>
            </a:extLst>
          </p:cNvPr>
          <p:cNvSpPr/>
          <p:nvPr/>
        </p:nvSpPr>
        <p:spPr>
          <a:xfrm>
            <a:off x="590721" y="4858163"/>
            <a:ext cx="2743200" cy="898791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E838886-18A0-7370-0F3E-87278C9336A5}"/>
              </a:ext>
            </a:extLst>
          </p:cNvPr>
          <p:cNvSpPr/>
          <p:nvPr/>
        </p:nvSpPr>
        <p:spPr>
          <a:xfrm>
            <a:off x="590721" y="4858163"/>
            <a:ext cx="45719" cy="853071"/>
          </a:xfrm>
          <a:prstGeom prst="rect">
            <a:avLst/>
          </a:prstGeom>
          <a:solidFill>
            <a:srgbClr val="43D2B1"/>
          </a:solidFill>
          <a:ln>
            <a:solidFill>
              <a:srgbClr val="43D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7C4A5AC-43AF-0BB5-9023-D261034806E4}"/>
              </a:ext>
            </a:extLst>
          </p:cNvPr>
          <p:cNvSpPr txBox="1"/>
          <p:nvPr/>
        </p:nvSpPr>
        <p:spPr>
          <a:xfrm>
            <a:off x="819321" y="504104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DETECTED PATTERNS</a:t>
            </a:r>
          </a:p>
        </p:txBody>
      </p:sp>
      <p:cxnSp>
        <p:nvCxnSpPr>
          <p:cNvPr id="35" name="Connector 9">
            <a:extLst>
              <a:ext uri="{FF2B5EF4-FFF2-40B4-BE49-F238E27FC236}">
                <a16:creationId xmlns:a16="http://schemas.microsoft.com/office/drawing/2014/main" id="{3504FA42-A055-74CF-6B30-36BB7669D1FA}"/>
              </a:ext>
            </a:extLst>
          </p:cNvPr>
          <p:cNvCxnSpPr/>
          <p:nvPr/>
        </p:nvCxnSpPr>
        <p:spPr>
          <a:xfrm>
            <a:off x="3425361" y="5328636"/>
            <a:ext cx="594360" cy="0"/>
          </a:xfrm>
          <a:prstGeom prst="line">
            <a:avLst/>
          </a:prstGeom>
          <a:ln w="25400">
            <a:solidFill>
              <a:srgbClr val="A5B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10">
            <a:extLst>
              <a:ext uri="{FF2B5EF4-FFF2-40B4-BE49-F238E27FC236}">
                <a16:creationId xmlns:a16="http://schemas.microsoft.com/office/drawing/2014/main" id="{5D26662A-1EB3-9389-B26A-04DC80D14B09}"/>
              </a:ext>
            </a:extLst>
          </p:cNvPr>
          <p:cNvSpPr/>
          <p:nvPr/>
        </p:nvSpPr>
        <p:spPr>
          <a:xfrm>
            <a:off x="4111161" y="4858163"/>
            <a:ext cx="3246120" cy="898791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9E6316-7ECA-45F1-0812-A2BE37E443EE}"/>
              </a:ext>
            </a:extLst>
          </p:cNvPr>
          <p:cNvSpPr/>
          <p:nvPr/>
        </p:nvSpPr>
        <p:spPr>
          <a:xfrm>
            <a:off x="4111161" y="4858163"/>
            <a:ext cx="82296" cy="914643"/>
          </a:xfrm>
          <a:prstGeom prst="rect">
            <a:avLst/>
          </a:prstGeom>
          <a:solidFill>
            <a:srgbClr val="599CFF"/>
          </a:solidFill>
          <a:ln>
            <a:solidFill>
              <a:srgbClr val="5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CD580D-1192-177B-F876-1B301E44F85A}"/>
              </a:ext>
            </a:extLst>
          </p:cNvPr>
          <p:cNvSpPr txBox="1"/>
          <p:nvPr/>
        </p:nvSpPr>
        <p:spPr>
          <a:xfrm>
            <a:off x="4339761" y="5041042"/>
            <a:ext cx="283463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F4F7FA"/>
                </a:solidFill>
                <a:latin typeface="Aptos"/>
              </a:defRPr>
            </a:pPr>
            <a:r>
              <a:rPr lang="en-US" sz="1600" b="1">
                <a:solidFill>
                  <a:srgbClr val="F4F7FA"/>
                </a:solidFill>
                <a:latin typeface="Aptos"/>
              </a:rPr>
              <a:t>Inefficiency Analysis Using KNN </a:t>
            </a:r>
            <a:endParaRPr/>
          </a:p>
        </p:txBody>
      </p:sp>
      <p:cxnSp>
        <p:nvCxnSpPr>
          <p:cNvPr id="39" name="Connector 14">
            <a:extLst>
              <a:ext uri="{FF2B5EF4-FFF2-40B4-BE49-F238E27FC236}">
                <a16:creationId xmlns:a16="http://schemas.microsoft.com/office/drawing/2014/main" id="{82161DB6-E024-2582-6AE8-4E465FA19154}"/>
              </a:ext>
            </a:extLst>
          </p:cNvPr>
          <p:cNvCxnSpPr/>
          <p:nvPr/>
        </p:nvCxnSpPr>
        <p:spPr>
          <a:xfrm>
            <a:off x="7357281" y="5345351"/>
            <a:ext cx="594360" cy="0"/>
          </a:xfrm>
          <a:prstGeom prst="line">
            <a:avLst/>
          </a:prstGeom>
          <a:ln w="25400">
            <a:solidFill>
              <a:srgbClr val="A5B2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15">
            <a:extLst>
              <a:ext uri="{FF2B5EF4-FFF2-40B4-BE49-F238E27FC236}">
                <a16:creationId xmlns:a16="http://schemas.microsoft.com/office/drawing/2014/main" id="{815E0662-8E37-AEDF-5419-D2557276724E}"/>
              </a:ext>
            </a:extLst>
          </p:cNvPr>
          <p:cNvSpPr/>
          <p:nvPr/>
        </p:nvSpPr>
        <p:spPr>
          <a:xfrm>
            <a:off x="8027841" y="4854328"/>
            <a:ext cx="3474720" cy="902626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9D3CD9-5340-9634-1BED-AE6231FB188D}"/>
              </a:ext>
            </a:extLst>
          </p:cNvPr>
          <p:cNvSpPr/>
          <p:nvPr/>
        </p:nvSpPr>
        <p:spPr>
          <a:xfrm>
            <a:off x="7997361" y="4858163"/>
            <a:ext cx="82296" cy="914643"/>
          </a:xfrm>
          <a:prstGeom prst="rect">
            <a:avLst/>
          </a:prstGeom>
          <a:solidFill>
            <a:srgbClr val="F6AD55"/>
          </a:solidFill>
          <a:ln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602A88-4734-AB17-350B-F1AC9F4B8796}"/>
              </a:ext>
            </a:extLst>
          </p:cNvPr>
          <p:cNvSpPr txBox="1"/>
          <p:nvPr/>
        </p:nvSpPr>
        <p:spPr>
          <a:xfrm>
            <a:off x="8225961" y="5041042"/>
            <a:ext cx="306323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rPr lang="en-US"/>
              <a:t>Best Complexity</a:t>
            </a:r>
          </a:p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R</a:t>
            </a:r>
            <a:r>
              <a:rPr lang="en-US"/>
              <a:t>ecommendation</a:t>
            </a:r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D0ADE2-B160-E840-6220-30BE78E654EE}"/>
              </a:ext>
            </a:extLst>
          </p:cNvPr>
          <p:cNvSpPr txBox="1"/>
          <p:nvPr/>
        </p:nvSpPr>
        <p:spPr>
          <a:xfrm>
            <a:off x="1143000" y="3596660"/>
            <a:ext cx="103327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4F7FA"/>
                </a:solidFill>
                <a:latin typeface="Aptos"/>
              </a:defRPr>
            </a:pPr>
            <a:r>
              <a:rPr lang="en-US"/>
              <a:t>Recommendation System Flow</a:t>
            </a:r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ECE12D9-26FA-BE36-F8DF-BDE2B2034C5C}"/>
              </a:ext>
            </a:extLst>
          </p:cNvPr>
          <p:cNvSpPr/>
          <p:nvPr/>
        </p:nvSpPr>
        <p:spPr>
          <a:xfrm>
            <a:off x="502920" y="4269065"/>
            <a:ext cx="10972800" cy="22860"/>
          </a:xfrm>
          <a:prstGeom prst="rect">
            <a:avLst/>
          </a:prstGeom>
          <a:solidFill>
            <a:srgbClr val="172339"/>
          </a:solidFill>
          <a:ln>
            <a:solidFill>
              <a:srgbClr val="172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F7FA"/>
                </a:solidFill>
              </a:defRPr>
            </a:pPr>
            <a:r>
              <a:rPr lang="en-US" sz="2800" b="1">
                <a:solidFill>
                  <a:srgbClr val="F4F7FA"/>
                </a:solidFill>
              </a:rPr>
              <a:t>How KNN Determines 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5B2C5"/>
                </a:solidFill>
              </a:defRPr>
            </a:pPr>
            <a:r>
              <a:rPr lang="en-US" sz="1400">
                <a:solidFill>
                  <a:srgbClr val="A5B2C5"/>
                </a:solidFill>
              </a:rPr>
              <a:t>Programs are represented as feature vectors → distance is calculated → nearest examples vote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743200" cy="4251960"/>
          </a:xfrm>
          <a:prstGeom prst="roundRect">
            <a:avLst/>
          </a:prstGeom>
          <a:solidFill>
            <a:srgbClr val="121B2D"/>
          </a:solidFill>
          <a:ln>
            <a:solidFill>
              <a:srgbClr val="172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3D2B1"/>
                </a:solidFill>
              </a:defRPr>
            </a:pPr>
            <a:r>
              <a:rPr lang="en-US" sz="2000" b="1">
                <a:solidFill>
                  <a:srgbClr val="43D2B1"/>
                </a:solidFill>
              </a:rPr>
              <a:t>1. Extract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4F7FA"/>
                </a:solidFill>
              </a:defRPr>
            </a:pPr>
            <a:r>
              <a:rPr lang="en-US" sz="1600">
                <a:solidFill>
                  <a:srgbClr val="F4F7FA"/>
                </a:solidFill>
              </a:rPr>
              <a:t>Loops =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62072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4F7FA"/>
                </a:solidFill>
              </a:defRPr>
            </a:pPr>
            <a:r>
              <a:rPr lang="en-US" sz="1600">
                <a:solidFill>
                  <a:srgbClr val="F4F7FA"/>
                </a:solidFill>
              </a:rPr>
              <a:t>Nesting depth =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9242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4F7FA"/>
                </a:solidFill>
              </a:defRPr>
            </a:pPr>
            <a:r>
              <a:rPr lang="en-US" sz="1600">
                <a:solidFill>
                  <a:srgbClr val="F4F7FA"/>
                </a:solidFill>
              </a:rPr>
              <a:t>Recursion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22776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4F7FA"/>
                </a:solidFill>
              </a:defRPr>
            </a:pPr>
            <a:r>
              <a:rPr lang="en-US" sz="1600">
                <a:solidFill>
                  <a:srgbClr val="F4F7FA"/>
                </a:solidFill>
              </a:rPr>
              <a:t>Log pattern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53128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4F7FA"/>
                </a:solidFill>
              </a:defRPr>
            </a:pPr>
            <a:r>
              <a:rPr lang="en-US" sz="1600">
                <a:solidFill>
                  <a:srgbClr val="F4F7FA"/>
                </a:solidFill>
              </a:rPr>
              <a:t>Function calls =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D2B1"/>
                </a:solidFill>
              </a:defRPr>
            </a:pPr>
            <a:r>
              <a:rPr lang="en-US" sz="1800" b="1">
                <a:solidFill>
                  <a:srgbClr val="43D2B1"/>
                </a:solidFill>
              </a:rPr>
              <a:t>[ 2, 2, 0, 0, 7 ]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1508760"/>
            <a:ext cx="3703320" cy="4251960"/>
          </a:xfrm>
          <a:prstGeom prst="roundRect">
            <a:avLst/>
          </a:prstGeom>
          <a:solidFill>
            <a:srgbClr val="121B2D"/>
          </a:solidFill>
          <a:ln>
            <a:solidFill>
              <a:srgbClr val="172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60520" y="1737360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99CFF"/>
                </a:solidFill>
              </a:defRPr>
            </a:pPr>
            <a:r>
              <a:rPr lang="en-US" sz="2000" b="1">
                <a:solidFill>
                  <a:srgbClr val="599CFF"/>
                </a:solidFill>
              </a:rPr>
              <a:t>2. Calculate Distance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23160"/>
            <a:ext cx="3108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4F7FA"/>
                </a:solidFill>
              </a:defRPr>
            </a:pPr>
            <a:r>
              <a:rPr lang="en-US" sz="1800" b="1">
                <a:solidFill>
                  <a:srgbClr val="F4F7FA"/>
                </a:solidFill>
              </a:rPr>
              <a:t>Euclidean Distance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063240"/>
            <a:ext cx="32461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4F7FA"/>
                </a:solidFill>
              </a:defRPr>
            </a:pPr>
            <a:r>
              <a:rPr lang="en-US" sz="2500" b="1">
                <a:solidFill>
                  <a:srgbClr val="F4F7FA"/>
                </a:solidFill>
              </a:rPr>
              <a:t>d = √ Σ (xᵢ − yᵢ)²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51960"/>
            <a:ext cx="2926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A5B2C5"/>
                </a:solidFill>
              </a:defRPr>
            </a:pPr>
            <a:r>
              <a:rPr lang="en-US" sz="1700">
                <a:solidFill>
                  <a:srgbClr val="A5B2C5"/>
                </a:solidFill>
              </a:rPr>
              <a:t>Smaller distance</a:t>
            </a:r>
            <a:br/>
            <a:r>
              <a:rPr lang="en-US" sz="1700">
                <a:solidFill>
                  <a:srgbClr val="A5B2C5"/>
                </a:solidFill>
              </a:rPr>
              <a:t>= more similar code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401568" y="3154680"/>
            <a:ext cx="438912" cy="457200"/>
          </a:xfrm>
          <a:prstGeom prst="rightArrow">
            <a:avLst/>
          </a:prstGeom>
          <a:solidFill>
            <a:srgbClr val="A5B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7607808" y="3154680"/>
            <a:ext cx="438912" cy="457200"/>
          </a:xfrm>
          <a:prstGeom prst="rightArrow">
            <a:avLst/>
          </a:prstGeom>
          <a:solidFill>
            <a:srgbClr val="A5B2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92440" y="1508760"/>
            <a:ext cx="3429000" cy="4251960"/>
          </a:xfrm>
          <a:prstGeom prst="roundRect">
            <a:avLst/>
          </a:prstGeom>
          <a:solidFill>
            <a:srgbClr val="121B2D"/>
          </a:solidFill>
          <a:ln>
            <a:solidFill>
              <a:srgbClr val="172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1737360"/>
            <a:ext cx="2834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6AD55"/>
                </a:solidFill>
              </a:defRPr>
            </a:pPr>
            <a:r>
              <a:rPr lang="en-US" sz="2000" b="1">
                <a:solidFill>
                  <a:srgbClr val="F6AD55"/>
                </a:solidFill>
              </a:rPr>
              <a:t>3. Find K Nearest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423160"/>
            <a:ext cx="2926080" cy="749808"/>
          </a:xfrm>
          <a:prstGeom prst="roundRect">
            <a:avLst/>
          </a:prstGeom>
          <a:solidFill>
            <a:srgbClr val="172339"/>
          </a:solidFill>
          <a:ln>
            <a:solidFill>
              <a:srgbClr val="2A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85632" y="2514600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7FA"/>
                </a:solidFill>
              </a:defRPr>
            </a:pPr>
            <a:r>
              <a:rPr lang="en-US" sz="1300" b="1">
                <a:solidFill>
                  <a:srgbClr val="F4F7FA"/>
                </a:solidFill>
              </a:rPr>
              <a:t>Training sample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514600"/>
            <a:ext cx="1143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3D2B1"/>
                </a:solidFill>
              </a:defRPr>
            </a:pPr>
            <a:r>
              <a:rPr lang="en-US" sz="1400" b="1">
                <a:solidFill>
                  <a:srgbClr val="43D2B1"/>
                </a:solidFill>
              </a:rPr>
              <a:t>O(n²)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5632" y="281635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5B2C5"/>
                </a:solidFill>
              </a:defRPr>
            </a:pPr>
            <a:r>
              <a:rPr lang="en-US" sz="1100">
                <a:solidFill>
                  <a:srgbClr val="A5B2C5"/>
                </a:solidFill>
              </a:rPr>
              <a:t>distance 0.8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319272"/>
            <a:ext cx="2926080" cy="749808"/>
          </a:xfrm>
          <a:prstGeom prst="roundRect">
            <a:avLst/>
          </a:prstGeom>
          <a:solidFill>
            <a:srgbClr val="172339"/>
          </a:solidFill>
          <a:ln>
            <a:solidFill>
              <a:srgbClr val="2A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85632" y="3410712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7FA"/>
                </a:solidFill>
              </a:defRPr>
            </a:pPr>
            <a:r>
              <a:rPr lang="en-US" sz="1300" b="1">
                <a:solidFill>
                  <a:srgbClr val="F4F7FA"/>
                </a:solidFill>
              </a:rPr>
              <a:t>Training sample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410712"/>
            <a:ext cx="1143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3D2B1"/>
                </a:solidFill>
              </a:defRPr>
            </a:pPr>
            <a:r>
              <a:rPr lang="en-US" sz="1400" b="1">
                <a:solidFill>
                  <a:srgbClr val="43D2B1"/>
                </a:solidFill>
              </a:rPr>
              <a:t>O(n²)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3712463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5B2C5"/>
                </a:solidFill>
              </a:defRPr>
            </a:pPr>
            <a:r>
              <a:rPr lang="en-US" sz="1100">
                <a:solidFill>
                  <a:srgbClr val="A5B2C5"/>
                </a:solidFill>
              </a:rPr>
              <a:t>distance 1.1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215383"/>
            <a:ext cx="2926080" cy="749808"/>
          </a:xfrm>
          <a:prstGeom prst="roundRect">
            <a:avLst/>
          </a:prstGeom>
          <a:solidFill>
            <a:srgbClr val="172339"/>
          </a:solidFill>
          <a:ln>
            <a:solidFill>
              <a:srgbClr val="2A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85632" y="4306823"/>
            <a:ext cx="1600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F7FA"/>
                </a:solidFill>
              </a:defRPr>
            </a:pPr>
            <a:r>
              <a:rPr lang="en-US" sz="1300" b="1">
                <a:solidFill>
                  <a:srgbClr val="F4F7FA"/>
                </a:solidFill>
              </a:rPr>
              <a:t>Training sample 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4306823"/>
            <a:ext cx="1143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3D2B1"/>
                </a:solidFill>
              </a:defRPr>
            </a:pPr>
            <a:r>
              <a:rPr lang="en-US" sz="1400" b="1">
                <a:solidFill>
                  <a:srgbClr val="43D2B1"/>
                </a:solidFill>
              </a:rPr>
              <a:t>O(n)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4608575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5B2C5"/>
                </a:solidFill>
              </a:defRPr>
            </a:pPr>
            <a:r>
              <a:rPr lang="en-US" sz="1100">
                <a:solidFill>
                  <a:srgbClr val="A5B2C5"/>
                </a:solidFill>
              </a:rPr>
              <a:t>distance 1.5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230368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6AD55"/>
                </a:solidFill>
              </a:defRPr>
            </a:pPr>
            <a:r>
              <a:rPr lang="en-US" sz="1800" b="1">
                <a:solidFill>
                  <a:srgbClr val="F6AD55"/>
                </a:solidFill>
              </a:rPr>
              <a:t>Majority vote → O(n²)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08076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i="1">
                <a:solidFill>
                  <a:srgbClr val="A5B2C5"/>
                </a:solidFill>
              </a:defRPr>
            </a:pPr>
            <a:r>
              <a:rPr lang="en-US" sz="1250" i="1">
                <a:solidFill>
                  <a:srgbClr val="A5B2C5"/>
                </a:solidFill>
              </a:rPr>
              <a:t>Features should be normalized first so large-valued features (e.g., lines of code) do not dominate the distance.</a:t>
            </a:r>
          </a:p>
        </p:txBody>
      </p:sp>
    </p:spTree>
    <p:extLst>
      <p:ext uri="{BB962C8B-B14F-4D97-AF65-F5344CB8AC3E}">
        <p14:creationId xmlns:p14="http://schemas.microsoft.com/office/powerpoint/2010/main" val="3390004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029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3D2B1"/>
                </a:solidFill>
                <a:latin typeface="Aptos"/>
              </a:defRPr>
            </a:pPr>
            <a:r>
              <a:rPr lang="en-US"/>
              <a:t>06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320040"/>
            <a:ext cx="103327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4F7FA"/>
                </a:solidFill>
                <a:latin typeface="Aptos"/>
              </a:defRPr>
            </a:pPr>
            <a:r>
              <a:t>T</a:t>
            </a:r>
            <a:r>
              <a:rPr lang="en-US"/>
              <a:t>ools &amp; Methods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22860"/>
          </a:xfrm>
          <a:prstGeom prst="rect">
            <a:avLst/>
          </a:prstGeom>
          <a:solidFill>
            <a:srgbClr val="172339"/>
          </a:solidFill>
          <a:ln>
            <a:solidFill>
              <a:srgbClr val="172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429000" cy="109728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54864" cy="1097280"/>
          </a:xfrm>
          <a:prstGeom prst="rect">
            <a:avLst/>
          </a:prstGeom>
          <a:solidFill>
            <a:srgbClr val="43D2B1"/>
          </a:solidFill>
          <a:ln>
            <a:solidFill>
              <a:srgbClr val="43D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91639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C++17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3055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Core implementation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109728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54864" cy="1097280"/>
          </a:xfrm>
          <a:prstGeom prst="rect">
            <a:avLst/>
          </a:prstGeom>
          <a:solidFill>
            <a:srgbClr val="599CFF"/>
          </a:solidFill>
          <a:ln>
            <a:solidFill>
              <a:srgbClr val="5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691639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STL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3055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Data structures and algorithms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508760"/>
            <a:ext cx="3429000" cy="109728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80" y="1508760"/>
            <a:ext cx="54864" cy="1097280"/>
          </a:xfrm>
          <a:prstGeom prst="rect">
            <a:avLst/>
          </a:prstGeom>
          <a:solidFill>
            <a:srgbClr val="F6AD55"/>
          </a:solidFill>
          <a:ln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691639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Filesystem / File I/O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3055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Source-file handling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926080"/>
            <a:ext cx="3429000" cy="109728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2926080"/>
            <a:ext cx="54864" cy="1097280"/>
          </a:xfrm>
          <a:prstGeom prst="rect">
            <a:avLst/>
          </a:prstGeom>
          <a:solidFill>
            <a:srgbClr val="43D2B1"/>
          </a:solidFill>
          <a:ln>
            <a:solidFill>
              <a:srgbClr val="43D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10896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Tokenization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478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Lexical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926080"/>
            <a:ext cx="3429000" cy="109728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2926080"/>
            <a:ext cx="54864" cy="1097280"/>
          </a:xfrm>
          <a:prstGeom prst="rect">
            <a:avLst/>
          </a:prstGeom>
          <a:solidFill>
            <a:srgbClr val="599CFF"/>
          </a:solidFill>
          <a:ln>
            <a:solidFill>
              <a:srgbClr val="5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310896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Static Feature 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5478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Code structure features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2926080"/>
            <a:ext cx="3429000" cy="109728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83880" y="2926080"/>
            <a:ext cx="54864" cy="1097280"/>
          </a:xfrm>
          <a:prstGeom prst="rect">
            <a:avLst/>
          </a:prstGeom>
          <a:solidFill>
            <a:srgbClr val="F6AD55"/>
          </a:solidFill>
          <a:ln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310896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KNN from Scratch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5478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Machine-learning component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343400"/>
            <a:ext cx="3429000" cy="109728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" y="4343400"/>
            <a:ext cx="54864" cy="1097280"/>
          </a:xfrm>
          <a:prstGeom prst="rect">
            <a:avLst/>
          </a:prstGeom>
          <a:solidFill>
            <a:srgbClr val="43D2B1"/>
          </a:solidFill>
          <a:ln>
            <a:solidFill>
              <a:srgbClr val="43D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45262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9651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Dataset storage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4343400"/>
            <a:ext cx="3429000" cy="109728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89120" y="4343400"/>
            <a:ext cx="54864" cy="1097280"/>
          </a:xfrm>
          <a:prstGeom prst="rect">
            <a:avLst/>
          </a:prstGeom>
          <a:solidFill>
            <a:srgbClr val="599CFF"/>
          </a:solidFill>
          <a:ln>
            <a:solidFill>
              <a:srgbClr val="59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17720" y="45262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CMake + Git/GitHub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49651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Build &amp; version control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80" y="4343400"/>
            <a:ext cx="3429000" cy="109728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83880" y="4343400"/>
            <a:ext cx="54864" cy="1097280"/>
          </a:xfrm>
          <a:prstGeom prst="rect">
            <a:avLst/>
          </a:prstGeom>
          <a:solidFill>
            <a:srgbClr val="F6AD55"/>
          </a:solidFill>
          <a:ln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0" y="452628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Unit Tests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9651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5B2C5"/>
                </a:solidFill>
                <a:latin typeface="Aptos"/>
              </a:defRPr>
            </a:pPr>
            <a:r>
              <a:t>CODECOMPLEX  •  SPL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18520" y="6473952"/>
            <a:ext cx="548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B2C5"/>
                </a:solidFill>
                <a:latin typeface="Aptos"/>
              </a:defRPr>
            </a:pPr>
            <a:r>
              <a:rPr lang="en-US"/>
              <a:t>6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AED940-9313-5EF1-FAFD-49754600595D}"/>
              </a:ext>
            </a:extLst>
          </p:cNvPr>
          <p:cNvSpPr txBox="1"/>
          <p:nvPr/>
        </p:nvSpPr>
        <p:spPr>
          <a:xfrm>
            <a:off x="845820" y="797094"/>
            <a:ext cx="2075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What is being used?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3D2B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2004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4F7FA"/>
                </a:solidFill>
                <a:latin typeface="Aptos"/>
              </a:defRPr>
            </a:pPr>
            <a:r>
              <a:t>EXAMPLE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850392"/>
            <a:ext cx="10149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What the user </a:t>
            </a:r>
            <a:r>
              <a:rPr lang="en-US"/>
              <a:t>should </a:t>
            </a:r>
            <a:r>
              <a:t>see in the terminal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22860"/>
          </a:xfrm>
          <a:prstGeom prst="rect">
            <a:avLst/>
          </a:prstGeom>
          <a:solidFill>
            <a:srgbClr val="172339"/>
          </a:solidFill>
          <a:ln>
            <a:solidFill>
              <a:srgbClr val="172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6629400" cy="452628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61264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4F7FA"/>
                </a:solidFill>
                <a:latin typeface="Consolas"/>
              </a:defRPr>
            </a:pPr>
            <a:r>
              <a:t>Function: findCommon()</a:t>
            </a:r>
            <a:br>
              <a:rPr/>
            </a:br>
            <a:br>
              <a:rPr/>
            </a:br>
            <a:r>
              <a:t>Features</a:t>
            </a:r>
            <a:br>
              <a:rPr/>
            </a:br>
            <a:r>
              <a:t>  Loop Count      : 2</a:t>
            </a:r>
            <a:br>
              <a:rPr/>
            </a:br>
            <a:r>
              <a:t>  Nesting Depth   : 2</a:t>
            </a:r>
            <a:br>
              <a:rPr/>
            </a:br>
            <a:r>
              <a:t>  Recursion       : No</a:t>
            </a:r>
            <a:br>
              <a:rPr/>
            </a:br>
            <a:r>
              <a:t>  Log Pattern     : No</a:t>
            </a:r>
            <a:br>
              <a:rPr/>
            </a:br>
            <a:br>
              <a:rPr/>
            </a:br>
            <a:r>
              <a:t>Complexity</a:t>
            </a:r>
            <a:br>
              <a:rPr/>
            </a:br>
            <a:r>
              <a:t>  Detected Pattern: Nested Loops</a:t>
            </a:r>
            <a:br>
              <a:rPr/>
            </a:br>
            <a:r>
              <a:t>  Estimated Time  : O(n²)</a:t>
            </a:r>
            <a:br>
              <a:rPr/>
            </a:br>
            <a:br>
              <a:rPr/>
            </a:br>
            <a:r>
              <a:t>Explanation</a:t>
            </a:r>
            <a:br>
              <a:rPr/>
            </a:br>
            <a:r>
              <a:t>  Two loops depend on n and are nested.</a:t>
            </a:r>
            <a:br>
              <a:rPr/>
            </a:br>
            <a:br>
              <a:rPr/>
            </a:br>
            <a:r>
              <a:t>Recommendation</a:t>
            </a:r>
            <a:br>
              <a:rPr/>
            </a:br>
            <a:r>
              <a:t>  Potential optimization opportunity detected.</a:t>
            </a:r>
            <a:br>
              <a:rPr/>
            </a:br>
            <a:r>
              <a:t>  Possible improved complexity: O(n)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508760"/>
            <a:ext cx="3840480" cy="196596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1508760"/>
            <a:ext cx="54864" cy="1965960"/>
          </a:xfrm>
          <a:prstGeom prst="rect">
            <a:avLst/>
          </a:prstGeom>
          <a:solidFill>
            <a:srgbClr val="F6AD55"/>
          </a:solidFill>
          <a:ln>
            <a:solidFill>
              <a:srgbClr val="F6A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691639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130552"/>
            <a:ext cx="3429000" cy="118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The system recommends possible improvements; it does not automatically rewrite the user's source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703320"/>
            <a:ext cx="3840480" cy="2331720"/>
          </a:xfrm>
          <a:prstGeom prst="roundRect">
            <a:avLst/>
          </a:prstGeom>
          <a:solidFill>
            <a:srgbClr val="121B2D"/>
          </a:solidFill>
          <a:ln>
            <a:solidFill>
              <a:srgbClr val="12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3703320"/>
            <a:ext cx="54864" cy="2331720"/>
          </a:xfrm>
          <a:prstGeom prst="rect">
            <a:avLst/>
          </a:prstGeom>
          <a:solidFill>
            <a:srgbClr val="43D2B1"/>
          </a:solidFill>
          <a:ln>
            <a:solidFill>
              <a:srgbClr val="43D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3886200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4F7FA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325112"/>
            <a:ext cx="3429000" cy="1554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2C5"/>
                </a:solidFill>
                <a:latin typeface="Aptos"/>
              </a:defRPr>
            </a:pPr>
            <a:r>
              <a:t>The output combines:</a:t>
            </a:r>
            <a:br>
              <a:rPr/>
            </a:br>
            <a:br>
              <a:rPr/>
            </a:br>
            <a:r>
              <a:t>Complexity + explanation + inefficiency analysis + 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A5B2C5"/>
                </a:solidFill>
                <a:latin typeface="Aptos"/>
              </a:defRPr>
            </a:pPr>
            <a:r>
              <a:t>CODECOMPLEX  •  SPL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5B2C5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573</Words>
  <Application>Microsoft Office PowerPoint</Application>
  <PresentationFormat>Widescreen</PresentationFormat>
  <Paragraphs>114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HomePC</dc:creator>
  <cp:keywords/>
  <dc:description>generated using python-pptx</dc:description>
  <cp:lastModifiedBy>Adib Rahman</cp:lastModifiedBy>
  <cp:revision>27</cp:revision>
  <dcterms:created xsi:type="dcterms:W3CDTF">2013-01-27T09:14:16Z</dcterms:created>
  <dcterms:modified xsi:type="dcterms:W3CDTF">2026-09-24T05:22:46Z</dcterms:modified>
  <cp:category/>
</cp:coreProperties>
</file>